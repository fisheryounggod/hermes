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560320"/>
            <a:ext cx="73152" cy="10972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Source Han Sans SC VF"/>
              </a:rPr>
              <a:t>期刊文章研读方法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999999"/>
                </a:solidFill>
                <a:latin typeface="Source Han Sans SC VF"/>
              </a:rPr>
              <a:t>《如何研读经济学文献》第三章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99999"/>
                </a:solidFill>
                <a:latin typeface="Source Han Sans SC VF"/>
              </a:rPr>
              <a:t>白军飞  |  中国农业大学经管学院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777788"/>
                </a:solidFill>
                <a:latin typeface="Source Han Sans SC VF"/>
              </a:rPr>
              <a:t>读书笔记 · 微信读书划线 301 条精选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D3955"/>
                </a:solidFill>
                <a:latin typeface="Source Han Sans SC VF"/>
              </a:rPr>
              <a:t>本章导航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8132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3955"/>
                </a:solidFill>
                <a:latin typeface="Source Han Sans SC VF"/>
              </a:rPr>
              <a:t>期刊文章结构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05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标题→摘要→引言→文献→理论框架→方法→结果→结论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414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3955"/>
                </a:solidFill>
                <a:latin typeface="Source Han Sans SC VF"/>
              </a:rPr>
              <a:t>递推法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从整体到细节的逐层拆解方法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0156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3955"/>
                </a:solidFill>
                <a:latin typeface="Source Han Sans SC VF"/>
              </a:rPr>
              <a:t>七阶段研读层次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307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读得懂→讲得出→会归类→能评价→会批判→有洞见→能创新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6168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3955"/>
                </a:solidFill>
                <a:latin typeface="Source Han Sans SC VF"/>
              </a:rPr>
              <a:t>研判文章价值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908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判断创新性与研究贡献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2180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3955"/>
                </a:solidFill>
                <a:latin typeface="Source Han Sans SC VF"/>
              </a:rPr>
              <a:t>研读方法总结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509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实践路径与核心要点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期刊文章的标准结构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51760" cy="219456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推断主体/行为/约束/科学问题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651760" cy="219456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2651760" cy="4572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3444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创新点、研究设计、主要结论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2651760" cy="219456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2651760" cy="4572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引言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研究动机、文献缺口、研究贡献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234440"/>
            <a:ext cx="2651760" cy="219456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234440"/>
            <a:ext cx="2651760" cy="4572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23444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文献综述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78308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时间线索、学科跨度、缺口定位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265176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理论框架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ABC/C2B 范式、作用机制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94760"/>
            <a:ext cx="265176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794760"/>
            <a:ext cx="2651760" cy="4572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794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研究方法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34340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数据、识别策略、稳健性检验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265176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94760"/>
            <a:ext cx="2651760" cy="4572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794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研究结果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核心发现、异质性分析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794760"/>
            <a:ext cx="265176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794760"/>
            <a:ext cx="2651760" cy="4572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794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ource Han Sans SC VF"/>
              </a:rPr>
              <a:t>结论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34340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Source Han Sans SC VF"/>
              </a:rPr>
              <a:t>主要贡献、局限性、未来方向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递推法：从整体到细节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" cy="6400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ource Han Sans SC VF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D3955"/>
                </a:solidFill>
                <a:latin typeface="Source Han Sans SC VF"/>
              </a:rPr>
              <a:t>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39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Source Han Sans SC VF"/>
              </a:rPr>
              <a:t>推断主体(Who)×行为(What)×约束(C)×科学问题(RQ)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ource Han Sans SC VF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0603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D3955"/>
                </a:solidFill>
                <a:latin typeface="Source Han Sans SC VF"/>
              </a:rPr>
              <a:t>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Source Han Sans SC VF"/>
              </a:rPr>
              <a:t>快速定位创新点、研究设计、主要结论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79"/>
            <a:ext cx="640080" cy="6400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79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ource Han Sans SC VF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8619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D3955"/>
                </a:solidFill>
                <a:latin typeface="Source Han Sans SC VF"/>
              </a:rPr>
              <a:t>引言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59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Source Han Sans SC VF"/>
              </a:rPr>
              <a:t>识别文献缺口、研究动机、本文如何弥补缺口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ource Han Sans SC VF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6635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D3955"/>
                </a:solidFill>
                <a:latin typeface="Source Han Sans SC VF"/>
              </a:rPr>
              <a:t>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53212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Source Han Sans SC VF"/>
              </a:rPr>
              <a:t>判断主要发现、局限性与未来研究方向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99999"/>
                </a:solidFill>
                <a:latin typeface="Source Han Sans SC VF"/>
              </a:rPr>
              <a:t>核心原则：先整体后局部，先框架后细节，每步都问"这篇文章在回答什么问题？"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文献研读七阶段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560320" cy="201168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读得懂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抓住主线、科学问题、答案与创新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280160"/>
            <a:ext cx="2560320" cy="201168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3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讲得出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用自己的话复述，让未读的人看懂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2560320" cy="201168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3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会归类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按主题/方法/年代分类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280160"/>
            <a:ext cx="2560320" cy="201168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3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SC VF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SC VF"/>
              </a:rPr>
              <a:t>能评价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Source Han Sans SC VF"/>
              </a:rPr>
              <a:t>看出价值与局限 ← 核心能力！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2560320" cy="201168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5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会批判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59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发现文章的错误与不足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749039"/>
            <a:ext cx="2560320" cy="201168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9319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8055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有洞见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37759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看到单篇看不到的整体脉络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749039"/>
            <a:ext cx="2560320" cy="201168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319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33333"/>
                </a:solidFill>
                <a:latin typeface="Source Han Sans SC VF"/>
              </a:rPr>
              <a:t>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5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33333"/>
                </a:solidFill>
                <a:latin typeface="Source Han Sans SC VF"/>
              </a:rPr>
              <a:t>能创新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59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99999"/>
                </a:solidFill>
                <a:latin typeface="Source Han Sans SC VF"/>
              </a:rPr>
              <a:t>从文献缺口中找到突破口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A52524"/>
                </a:solidFill>
                <a:latin typeface="Source Han Sans SC VF"/>
              </a:rPr>
              <a:t>核心：能评价文章的价值与局限 — 这是决定研究质量的关键能力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如何研判文章的研究价值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A52524"/>
                </a:solidFill>
                <a:latin typeface="Source Han Sans SC VF"/>
              </a:rPr>
              <a:t>✓ 创新性判断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D3955"/>
                </a:solidFill>
                <a:latin typeface="Source Han Sans SC VF"/>
              </a:rPr>
              <a:t>✗ 常见误区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① 发现了新的因果关系（Constraint→Behavior）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② 揭示了新的作用机制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③ 将现有理论应用于新群体/新情境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④ 提出了新的研究方法或数据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⑤ 挑战/修正了现有研究的结论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① "研究很少" ≠ 创新（稀缺性≠科学价值）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② 仅用新数据验证旧理论（非真正创新）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③ 方法创新但理论贡献模糊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5196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④ 研究结论与现有文献矛盾但未解释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⑤ 作者声明的贡献与实际不符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期刊文章研读方法总结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31752" cy="36576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146304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带着问题读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在读之前先问：这篇研究想回答什么科学问题？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486400" cy="1463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先看标题和摘要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10分钟内判断文章是否与你的研究相关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00" cy="146304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用ABC/C2B框架拆解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把文章的研究问题拆解为：主体×行为×约束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5486400" cy="1463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识别文献缺口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gap必须能被本文的贡献所弥补，否则无效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5486400" cy="1463040"/>
          </a:xfrm>
          <a:prstGeom prst="rect">
            <a:avLst/>
          </a:prstGeom>
          <a:solidFill>
            <a:srgbClr val="F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批判性评估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数据质量、识别策略、机制分析是否扎实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709160"/>
            <a:ext cx="5486400" cy="1463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2D3955"/>
                </a:solidFill>
                <a:latin typeface="Source Han Sans SC VF"/>
              </a:rPr>
              <a:t>做结构化笔记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Source Han Sans SC VF"/>
              </a:rPr>
              <a:t>问题→方法→结论→评价→对我的研究的启发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>
                <a:solidFill>
                  <a:srgbClr val="FFFFFF"/>
                </a:solidFill>
                <a:latin typeface="Source Han Sans SC VF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Source Han Sans SC VF"/>
              </a:rPr>
              <a:t>《如何研读经济学文献》第三章 · 期刊文章研读方法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99999"/>
                </a:solidFill>
                <a:latin typeface="Source Han Sans SC VF"/>
              </a:rPr>
              <a:t>白军飞  |  中国农业大学经管学院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