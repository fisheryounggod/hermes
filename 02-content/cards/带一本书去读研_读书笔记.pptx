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73152" cy="3200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Calibri"/>
                <a:ea typeface="Microsoft YaHei"/>
              </a:rPr>
              <a:t>读书笔记 · METHODS &amp;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>
                <a:solidFill>
                  <a:srgbClr val="0B2B4E"/>
                </a:solidFill>
                <a:latin typeface="Georgia"/>
                <a:ea typeface="STKaiti"/>
              </a:rPr>
              <a:t>带一本书去读研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0B2B4E"/>
                </a:solidFill>
                <a:latin typeface="Georgia"/>
                <a:ea typeface="STKaiti"/>
              </a:rPr>
              <a:t>A Survival Guide for Graduate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F2937"/>
                </a:solidFill>
                <a:latin typeface="Calibri"/>
                <a:ea typeface="Microsoft YaHei"/>
              </a:rPr>
              <a:t>研究生关键学术技能快速入门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Calibri"/>
                <a:ea typeface="Microsoft YaHei"/>
              </a:rPr>
              <a:t>【美】扎卡里·肖尔 (Zachary Shore)  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5120640"/>
            <a:ext cx="918972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257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阅读时长 2h56m   ·   153 条高亮   ·   2025-11-11 读完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Microsoft YaHei"/>
              </a:rPr>
              <a:t>笔记整理：Fisher  · 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导言 · CORE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研究生五大关键技能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Georgia"/>
                <a:ea typeface="STKaiti"/>
              </a:rPr>
              <a:t>Reading · Writing · Speaking · Relating · Research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Georgia"/>
                <a:ea typeface="STKaiti"/>
              </a:rPr>
              <a:t>「任何攻读学士、硕士或博士学位的人都必须掌握五大关键技能：阅读、写作、发言、交往、研究。可惜，大部分人从未学过如何高效地做好这五件事。」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21214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38728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B2B4E"/>
                </a:solidFill>
                <a:latin typeface="Georgia"/>
                <a:ea typeface="STKaiti"/>
              </a:rPr>
              <a:t>阅读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07B3F"/>
                </a:solidFill>
                <a:latin typeface="Georgia"/>
                <a:ea typeface="Microsoft YaHei"/>
              </a:rP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主动阅读 + 文本批判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3337560"/>
            <a:ext cx="21214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2656" y="3520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538728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B2B4E"/>
                </a:solidFill>
                <a:latin typeface="Georgia"/>
                <a:ea typeface="STKaiti"/>
              </a:rPr>
              <a:t>写作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07B3F"/>
                </a:solidFill>
                <a:latin typeface="Georgia"/>
                <a:ea typeface="Microsoft YaHei"/>
              </a:rPr>
              <a:t>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45262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结构清晰 + 文体策略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3337560"/>
            <a:ext cx="21214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3520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8152" y="3538728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B2B4E"/>
                </a:solidFill>
                <a:latin typeface="Georgia"/>
                <a:ea typeface="STKaiti"/>
              </a:rPr>
              <a:t>发言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07B3F"/>
                </a:solidFill>
                <a:latin typeface="Georgia"/>
                <a:ea typeface="Microsoft YaHei"/>
              </a:rPr>
              <a:t>SPEAKING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45262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讨论策略 + 展示技巧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2048" y="3337560"/>
            <a:ext cx="21214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4928" y="3520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538728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B2B4E"/>
                </a:solidFill>
                <a:latin typeface="Georgia"/>
                <a:ea typeface="STKaiti"/>
              </a:rPr>
              <a:t>交往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07B3F"/>
                </a:solidFill>
                <a:latin typeface="Georgia"/>
                <a:ea typeface="Microsoft YaHei"/>
              </a:rPr>
              <a:t>RELATING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45262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导师关系 + 形象管理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73184" y="3337560"/>
            <a:ext cx="212140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56064" y="3520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6064" y="3520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3538728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B2B4E"/>
                </a:solidFill>
                <a:latin typeface="Georgia"/>
                <a:ea typeface="STKaiti"/>
              </a:rPr>
              <a:t>研究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4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A07B3F"/>
                </a:solidFill>
                <a:latin typeface="Georgia"/>
                <a:ea typeface="Microsoft YaHei"/>
              </a:rPr>
              <a:t>RESEARCH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45262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回答有意义的问题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01 · 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第一章 如何阅读（上）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Georgia"/>
                <a:ea typeface="STKaiti"/>
              </a:rPr>
              <a:t>文本解析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25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如何主动阅读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9 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寻找与更宏大议题的关联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 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主动去略读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 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2219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实战演练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7033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6 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3367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本章回顾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148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阅读时的任务是搜寻加批判。你的第一项任务是找出作者的论纲，而主副标题往往就是捷径。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第二步：详读目录章标题也是作者论纲的线索。作者用各章来夯实核心论纲。每一章都是支撑总论纲的一个分论点。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最基本思想是：阅读不能只看内容，必须要抓论纲。论纲就是作者的核心论证。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02 · 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第二章 如何阅读（下）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Georgia"/>
                <a:ea typeface="STKaiti"/>
              </a:rPr>
              <a:t>文本批判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16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批判是什么，批判不是什么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 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不要做廉价的批判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3 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批判的策略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 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2219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实战演练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7033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2 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3367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对逻辑提出质疑：批判实操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148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3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你可以攻击一个论证的逻辑部分，也可以攻击它的实证部分。大体来说，你可以从三个主要的正面发起进攻：论纲、方法、信源。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信源：信源是新还是旧？如果是新信源，它是真的促进了我们的认识，还是仅仅证实了我们已经知道的东西？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教授评判你的思维能力的方式之一，就是看你做出的批判。这不是唯一的方式，也不是终极的方式，却是一种主要的方式，而且会给人留下强烈的印象。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03 · 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第三章 如何写作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28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结构清晰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5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文体策略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16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本章回顾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- 5.尽量使用日常用语，不要用外来词、科学术语或专业黑话。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“在下缅甸的毛淡棉，我被很多人痛恨……”但这句话比“很多人痛恨我”的效果好。在这个特殊的例子中，被动语态突出了紧张感，强调了奥威尔是被痛恨的对象。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开头抛出一个问题，一个没有明显答案的问题。如果问题的答案是显而易见的，那你就需要马上解释我们原本的想法不正确。接下来的几句话解释和细化了问题，将问题的范围局限于美国人，而不是全世界的所有人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04 · 发言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第四章 如何发言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18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讨论的策略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6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打造展示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运用多媒体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3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2219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本章回顾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033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2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不用做正式展示不是你在课堂上当哑巴的理由。你需要积极参与到对每周阅读材料的批判中。课堂讨论的目的应该是加深对文本的理解。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交友永远好过结怨，但有些人就是不明白这个简单的道理。完成本科和研究生学业就够难了，你当然不想完全一个人承受。即使你不在乎朋友和同道情谊，也请你考虑一下自己的职业发展。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发言、写作以及教学都不是在考察你的所知，而是在考察你向其他人解释你所知东西的水平。你对主题的了解是次要的，传递知识的能力才是第一位的。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05 · 交往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第五章 如何交往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22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与导师的关系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5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应对批评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形象管理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5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2219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寻找靠山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033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 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23367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档案馆行为规范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1148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3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学术训练是研究第一，教学第二。有些学者甚至教了好多年书，都不十分擅长教学。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不要把导师当成朋友、老板、同事、父母或其他任何人，而要把他视为工匠，把自己视为工匠的学徒。你的任务是跟他学会一门手艺。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不管你如何措辞，重点都是圆滑而明确地提出边界。就算你的回答是“不”，也要带着微笑说出口。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SKILL 06 · 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第六章 如何研究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92640" y="7132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C0392B"/>
                </a:solidFill>
                <a:latin typeface="Calibri"/>
                <a:ea typeface="Microsoft YaHei"/>
              </a:rPr>
              <a:t>39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本章小节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4937760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研究的目标：回答一个有意义的问题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9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寻找问题五步法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1071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研究策略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23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2219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Georgia"/>
                <a:ea typeface="STKaiti"/>
              </a:rPr>
              <a:t>本章回顾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033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2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A07B3F"/>
                </a:solidFill>
                <a:latin typeface="Georgia"/>
                <a:ea typeface="Microsoft YaHei"/>
              </a:rPr>
              <a:t>核心高亮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2331720"/>
            <a:ext cx="524225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一旦你觉得自己找到了合适的问题，那么我最好的一条建议是：问题要尽可能简短。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书名：《犯傻：为什么聪明人会做出坏决策》(Blunder：Why Smart People Make Bad Decisions)(Bloomsbury，2008)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2B"/>
                </a:solidFill>
                <a:latin typeface="Georgia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F2937"/>
                </a:solidFill>
                <a:latin typeface="Georgia"/>
                <a:ea typeface="STKaiti"/>
              </a:rPr>
              <a:t>- 答案是你的论纲。“答案”和“论纲”在这里是同义词，博士论文就是论纲的证明过程。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0392B"/>
                </a:solidFill>
                <a:latin typeface="Calibri"/>
                <a:ea typeface="Microsoft YaHei"/>
              </a:rPr>
              <a:t>结语 ·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B2B4E"/>
                </a:solidFill>
                <a:latin typeface="Georgia"/>
                <a:ea typeface="STKaiti"/>
              </a:rPr>
              <a:t>不要做廉价的批判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Georgia"/>
                <a:ea typeface="STKaiti"/>
              </a:rPr>
              <a:t>The Real Point of All These Skills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0">
                <a:solidFill>
                  <a:srgbClr val="0B2B4E"/>
                </a:solidFill>
                <a:latin typeface="Georgia"/>
                <a:ea typeface="STKaiti"/>
              </a:rPr>
              <a:t>「批判要有建设性，要言之有据，要能推动讨论前进。廉价的批判只会显示批评者的浅薄，而无损于被批评的对象。」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931920"/>
            <a:ext cx="301752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71600" y="4572000"/>
            <a:ext cx="32918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709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C0392B"/>
                </a:solidFill>
                <a:latin typeface="Georgia"/>
                <a:ea typeface="STKaiti"/>
              </a:rPr>
              <a:t>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2120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合理、专注、系统地规划学习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572000"/>
            <a:ext cx="32918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709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C0392B"/>
                </a:solidFill>
                <a:latin typeface="Georgia"/>
                <a:ea typeface="STKaiti"/>
              </a:rPr>
              <a:t>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2120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一切技能都有可学的结构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4572000"/>
            <a:ext cx="32918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709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C0392B"/>
                </a:solidFill>
                <a:latin typeface="Georgia"/>
                <a:ea typeface="STKaiti"/>
              </a:rPr>
              <a:t>诚实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21208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批判别人之前，先打磨自己的判断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带一本书去读研 · 读书笔记 PPT · 扎卡里·肖尔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Calibr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